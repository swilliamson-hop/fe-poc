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  <a:latin typeface="Calibri"/>
              </a:rPr>
              <a:t>EUDI Wallet Integration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83464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BFDBFF"/>
                </a:solidFill>
                <a:latin typeface="Calibri"/>
              </a:rPr>
              <a:t>Wie funktioniert die automatische Formular-Befüllung
mit dem EU Digital Identity Wallet?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93C5FD"/>
                </a:solidFill>
                <a:latin typeface="Calibri"/>
              </a:rPr>
              <a:t>Immomio POC  ·  März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Was ist das Ziel?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F"/>
                </a:solidFill>
                <a:latin typeface="Calibri"/>
              </a:rPr>
              <a:t>Manuelle Dateneingabe ersetzen – schneller, sicherer, vertrauenswürdiger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5303520" cy="49377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A580C"/>
                </a:solidFill>
                <a:latin typeface="Calibri"/>
              </a:rPr>
              <a:t>❌  Bisher: Manuell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>
                <a:solidFill>
                  <a:srgbClr val="1F2937"/>
                </a:solidFill>
                <a:latin typeface="Calibri"/>
              </a:rPr>
              <a:t>•  Nutzer tippt Name, Adresse, Geburtsdatum selbst ein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1F2937"/>
                </a:solidFill>
                <a:latin typeface="Calibri"/>
              </a:rPr>
              <a:t>•  Fehleranfällig (Tippfehler, Copy-Paste)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1F2937"/>
                </a:solidFill>
                <a:latin typeface="Calibri"/>
              </a:rPr>
              <a:t>•  Keine Verifikation – jeder kann beliebige Daten eintragen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1F2937"/>
                </a:solidFill>
                <a:latin typeface="Calibri"/>
              </a:rPr>
              <a:t>•  Vermieter müssen Angaben manuell prüfen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463040"/>
            <a:ext cx="5760720" cy="49377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166534"/>
                </a:solidFill>
                <a:latin typeface="Calibri"/>
              </a:rPr>
              <a:t>✅  Neu: EUDI Wallet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03120"/>
            <a:ext cx="53949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0"/>
              </a:spcBef>
            </a:pPr>
            <a:r>
              <a:rPr sz="1500">
                <a:solidFill>
                  <a:srgbClr val="1F2937"/>
                </a:solidFill>
                <a:latin typeface="Calibri"/>
              </a:rPr>
              <a:t>•  Ein Klick → Wallet-App öffnet sich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1F2937"/>
                </a:solidFill>
                <a:latin typeface="Calibri"/>
              </a:rPr>
              <a:t>•  Nutzer gibt Freigabe → Formular füllt sich automatisch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1F2937"/>
                </a:solidFill>
                <a:latin typeface="Calibri"/>
              </a:rPr>
              <a:t>•  Daten kommen als PID (Person Identification Data)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1F2937"/>
                </a:solidFill>
                <a:latin typeface="Calibri"/>
              </a:rPr>
              <a:t>•  Kryptografisch signiert von staatlicher Stelle (DE: Bundesdruckerei)</a:t>
            </a:r>
          </a:p>
          <a:p>
            <a:pPr>
              <a:spcBef>
                <a:spcPts val="1000"/>
              </a:spcBef>
            </a:pPr>
            <a:r>
              <a:rPr sz="1500">
                <a:solidFill>
                  <a:srgbClr val="1F2937"/>
                </a:solidFill>
                <a:latin typeface="Calibri"/>
              </a:rPr>
              <a:t>•  Vermieter bekommt verifizierte, vertrauenswürdige Daten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Architektur: Warum zwei Teile?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F"/>
                </a:solidFill>
                <a:latin typeface="Calibri"/>
              </a:rPr>
              <a:t>Das Wallet verbindet sich direkt mit dem Service – nicht mit dem Frontend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4114800" cy="438912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47AB"/>
                </a:solidFill>
                <a:latin typeface="Calibri"/>
              </a:rPr>
              <a:t>🖥 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488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B7280"/>
                </a:solidFill>
                <a:latin typeface="Calibri"/>
              </a:rPr>
              <a:t>web/  (Next.js)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514600"/>
            <a:ext cx="3749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›  Bewerbungsformular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›  EUDIW-Button + QR-Code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›  Polling alle 2s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›  Befüllt Formularfelder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›  Läuft lokal / Vercel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40" y="3017520"/>
            <a:ext cx="731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A6ED8"/>
                </a:solidFill>
                <a:latin typeface="Calibri"/>
              </a:rPr>
              <a:t>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520440"/>
            <a:ext cx="1005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6B7280"/>
                </a:solidFill>
                <a:latin typeface="Calibri"/>
              </a:rPr>
              <a:t>REST API
(CORS)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60720" y="1554480"/>
            <a:ext cx="4114800" cy="438912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173736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47AB"/>
                </a:solidFill>
                <a:latin typeface="Calibri"/>
              </a:rPr>
              <a:t>⚙️  EUDI Wallet Service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148840"/>
            <a:ext cx="37490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eudi-wallet-service/  (Node.js + Hono, Railway)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514600"/>
            <a:ext cx="3749039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›  Öffentliche HTTPS-URL (Railway)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›  Access Certificate (EUDI Sandbox)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›  Signiert + verschlüsselt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›  7-Layer Validierung</a:t>
            </a:r>
          </a:p>
          <a:p>
            <a:pPr>
              <a:spcBef>
                <a:spcPts val="8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›  In-Memory Session Store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0" y="2286000"/>
            <a:ext cx="1645920" cy="301752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287000" y="2423160"/>
            <a:ext cx="15544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F2937"/>
                </a:solidFill>
                <a:latin typeface="Calibri"/>
              </a:rPr>
              <a:t>📱
Wallet
App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92640" y="3017520"/>
            <a:ext cx="640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>
                <a:solidFill>
                  <a:srgbClr val="EA580C"/>
                </a:solidFill>
                <a:latin typeface="Calibri"/>
              </a:rPr>
              <a:t>⟷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55480" y="3520440"/>
            <a:ext cx="868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B7280"/>
                </a:solidFill>
                <a:latin typeface="Calibri"/>
              </a:rPr>
              <a:t>openid4vp
(direkt)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080760"/>
            <a:ext cx="11430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Das Wallet kommuniziert direkt mit dem Service – über das OpenID4VP-Protokoll. Dafür braucht der Service eine öffentliche HTTPS-URL und ein Access Certificate vom EUDI Sandbox.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Ablauf: QR Code (Cross-Device)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F"/>
                </a:solidFill>
                <a:latin typeface="Calibri"/>
              </a:rPr>
              <a:t>Desktop zeigt QR → User scannt mit Wallet-App auf dem Handy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17320"/>
            <a:ext cx="2194560" cy="411480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581912"/>
            <a:ext cx="594360" cy="594360"/>
          </a:xfrm>
          <a:prstGeom prst="ellipse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317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47AB"/>
                </a:solidFill>
                <a:latin typeface="Calibri"/>
              </a:rPr>
              <a:t>Button klicken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880360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Nutzer klickt 'Mit EU Digital Identity Wallet ausfüllen'
Frontend ruft POST /initiate auf dem Service auf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8024" y="31546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2032" y="1417320"/>
            <a:ext cx="2194560" cy="41148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19272" y="1581912"/>
            <a:ext cx="594360" cy="59436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23317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6534"/>
                </a:solidFill>
                <a:latin typeface="Calibri"/>
              </a:rPr>
              <a:t>QR Code erscheint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880360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Service erstellt Session + kryptografische Schlüssel
Frontend zeigt QR-Code, startet sofort Polling (alle 2s)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31546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9744" y="1417320"/>
            <a:ext cx="2194560" cy="411480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86984" y="1581912"/>
            <a:ext cx="594360" cy="594360"/>
          </a:xfrm>
          <a:prstGeom prst="ellipse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4" y="23317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47AB"/>
                </a:solidFill>
                <a:latin typeface="Calibri"/>
              </a:rPr>
              <a:t>QR scannen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2880360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Nutzer scannt QR mit EUDI Wallet App auf dem Handy
Wallet lädt den JAR (Anfrage-JWT) vom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3448" y="31546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77456" y="1417320"/>
            <a:ext cx="2194560" cy="411480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54696" y="1581912"/>
            <a:ext cx="594360" cy="594360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3317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66534"/>
                </a:solidFill>
                <a:latin typeface="Calibri"/>
              </a:rPr>
              <a:t>Freigabe erteilen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7184" y="2880360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Wallet zeigt: 'Diese Felder werden angefragt'
Nutzer tippt auf 'Teilen' → Wallet sendet VP Token an Service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1546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45168" y="1417320"/>
            <a:ext cx="2194560" cy="411480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22408" y="1581912"/>
            <a:ext cx="594360" cy="594360"/>
          </a:xfrm>
          <a:prstGeom prst="ellipse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8" y="2331720"/>
            <a:ext cx="2057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47AB"/>
                </a:solidFill>
                <a:latin typeface="Calibri"/>
              </a:rPr>
              <a:t>Formular befüllt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4896" y="2880360"/>
            <a:ext cx="201168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Polling erhält 'complete' + PID-Claims
Vorname, Nachname, Geburtsdatum erscheinen im Formular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Ablauf: Deep Link (Same-Device)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F"/>
                </a:solidFill>
                <a:latin typeface="Calibri"/>
              </a:rPr>
              <a:t>User ist auf dem Handy – Wallet öffnet sich direkt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17320"/>
            <a:ext cx="2194560" cy="41148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581912"/>
            <a:ext cx="594360" cy="5943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33172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580C"/>
                </a:solidFill>
                <a:latin typeface="Calibri"/>
              </a:rPr>
              <a:t>Button tippen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297180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Nutzer tippt 'Mit EU Digital Identity Wallet ausfüllen'
App öffnet automatisch Wallet via openid4vp:// Deep 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78024" y="31546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42032" y="1417320"/>
            <a:ext cx="2194560" cy="411480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319272" y="1581912"/>
            <a:ext cx="594360" cy="594360"/>
          </a:xfrm>
          <a:prstGeom prst="ellipse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33472" y="233172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47AB"/>
                </a:solidFill>
                <a:latin typeface="Calibri"/>
              </a:rPr>
              <a:t>Wallet öffnet
sich direkt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97180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Die Wallet-App öffnet sich sofort
Nutzer sieht die Datenanfrage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45736" y="31546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09744" y="1417320"/>
            <a:ext cx="2194560" cy="41148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586984" y="1581912"/>
            <a:ext cx="594360" cy="5943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901184" y="233172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580C"/>
                </a:solidFill>
                <a:latin typeface="Calibri"/>
              </a:rPr>
              <a:t>Freigabe
erteilen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19472" y="297180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Nutzer tippt auf 'Teilen'
Wallet sendet VP Token an Service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13448" y="31546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077456" y="1417320"/>
            <a:ext cx="2194560" cy="411480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854696" y="1581912"/>
            <a:ext cx="594360" cy="594360"/>
          </a:xfrm>
          <a:prstGeom prst="ellipse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168896" y="233172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47AB"/>
                </a:solidFill>
                <a:latin typeface="Calibri"/>
              </a:rPr>
              <a:t>Tab schließt
sich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87184" y="297180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Wallet-Browser öffnet /done/
window.close() → Tab schließt sich
Bewerbungs-Tab kommt in Vordergrund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60" y="3154680"/>
            <a:ext cx="10972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6B7280"/>
                </a:solidFill>
                <a:latin typeface="Calibri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45168" y="1417320"/>
            <a:ext cx="2194560" cy="411480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122408" y="1581912"/>
            <a:ext cx="594360" cy="594360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608" y="2331720"/>
            <a:ext cx="2057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A580C"/>
                </a:solidFill>
                <a:latin typeface="Calibri"/>
              </a:rPr>
              <a:t>Formular
befüllt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54896" y="2971800"/>
            <a:ext cx="2011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1F2937"/>
                </a:solidFill>
                <a:latin typeface="Calibri"/>
              </a:rPr>
              <a:t>Polling erkennt 'complete'
Felder werden automatisch befüllt
✓ Badges erscheinen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Die drei Schlüsselkonzepte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F"/>
                </a:solidFill>
                <a:latin typeface="Calibri"/>
              </a:rPr>
              <a:t>JAR, VP Token und SD-JWT erklärt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17320"/>
            <a:ext cx="3657600" cy="51206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80160" y="1600200"/>
            <a:ext cx="1645920" cy="457200"/>
          </a:xfrm>
          <a:prstGeom prst="rect">
            <a:avLst/>
          </a:prstGeom>
          <a:solidFill>
            <a:srgbClr val="0047AB"/>
          </a:solidFill>
          <a:ln w="635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JAR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7627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0047AB"/>
                </a:solidFill>
                <a:latin typeface="Calibri"/>
              </a:rPr>
              <a:t>JWT Authorization Request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5176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Signiertes JWT vom Service an die Wallet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Enthält: Was angefragt wird (DCQL Query)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Enthält: Wohin die Antwort gehen soll (response_uri)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Enthält: Nonce (Einmal-Code gegen Replay)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Enthält: Public Key für Verschlüsselung der Antwort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Signiert mit Access Certificate → Wallet vertraut dem Service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96512" y="1417320"/>
            <a:ext cx="3657600" cy="51206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102352" y="1600200"/>
            <a:ext cx="1645920" cy="457200"/>
          </a:xfrm>
          <a:prstGeom prst="rect">
            <a:avLst/>
          </a:prstGeom>
          <a:solidFill>
            <a:srgbClr val="EA580C"/>
          </a:solidFill>
          <a:ln w="635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VP Token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33672" y="217627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EA580C"/>
                </a:solidFill>
                <a:latin typeface="Calibri"/>
              </a:rPr>
              <a:t>Verifiable Presentation Token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9392" y="265176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Verschlüsseltes JWT von der Wallet an den Service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Enthält: Das eigentliche PID-Credential (SD-JWT)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Verschlüsselt mit dem Public Key aus dem JAR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Nur unser Service kann entschlüsseln (Ephemeral Key)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Enthält Nonce → bindet Antwort an unsere Anfrage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Wallet signiert es → Holder Binding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18704" y="1417320"/>
            <a:ext cx="3657600" cy="51206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924544" y="1600200"/>
            <a:ext cx="1645920" cy="457200"/>
          </a:xfrm>
          <a:prstGeom prst="rect">
            <a:avLst/>
          </a:prstGeom>
          <a:solidFill>
            <a:srgbClr val="166534"/>
          </a:solidFill>
          <a:ln w="635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SD-JWT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55864" y="2176272"/>
            <a:ext cx="3429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166534"/>
                </a:solidFill>
                <a:latin typeface="Calibri"/>
              </a:rPr>
              <a:t>Selective Disclosure JWT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01584" y="2651760"/>
            <a:ext cx="33832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7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Das PID-Credential von der Bundesdruckerei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Format: issuer-jwt~disclosure1~disclosure2~...~kb-jwt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Jede Disclosure: Base64(Salt, Feldname, Wert)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Nutzer wählt welche Felder er freigibt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KB-JWT am Ende: Proof that the holder has the key</a:t>
            </a:r>
          </a:p>
          <a:p>
            <a:pPr>
              <a:spcBef>
                <a:spcPts val="7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Nur freigegebene Felder kommen beim Service 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7 Validierungsschichten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F"/>
                </a:solidFill>
                <a:latin typeface="Calibri"/>
              </a:rPr>
              <a:t>Jede eingehende Wallet-Antwort durchläuft diese Prüfkette – sequenziell, fail-fast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17320"/>
            <a:ext cx="11612880" cy="612648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0047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411480" y="1508760"/>
            <a:ext cx="420624" cy="420624"/>
          </a:xfrm>
          <a:prstGeom prst="ellipse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47218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47AB"/>
                </a:solidFill>
                <a:latin typeface="Calibri"/>
              </a:rPr>
              <a:t>Transport &amp; Struktur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50876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JWE entschlüsseln, Format erkennen, Größe prüfen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075688"/>
            <a:ext cx="11612880" cy="612648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11480" y="2167128"/>
            <a:ext cx="420624" cy="420624"/>
          </a:xfrm>
          <a:prstGeom prst="ellipse">
            <a:avLst/>
          </a:prstGeom>
          <a:solidFill>
            <a:srgbClr val="1A6E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3055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6ED8"/>
                </a:solidFill>
                <a:latin typeface="Calibri"/>
              </a:rPr>
              <a:t>Session Binding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16712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Nonce ✓, Audience ✓, Timestamps ✓ → kein Replay möglich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2734056"/>
            <a:ext cx="11612880" cy="61264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11480" y="2825496"/>
            <a:ext cx="420624" cy="420624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788920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6534"/>
                </a:solidFill>
                <a:latin typeface="Calibri"/>
              </a:rPr>
              <a:t>Credential Assurance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825496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Ablaufdatum des PID, x5c-Zertifikat, Issuer Trust List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" y="3392424"/>
            <a:ext cx="11612880" cy="612648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11480" y="3483864"/>
            <a:ext cx="420624" cy="420624"/>
          </a:xfrm>
          <a:prstGeom prst="ellipse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447288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66534"/>
                </a:solidFill>
                <a:latin typeface="Calibri"/>
              </a:rPr>
              <a:t>Holder Binding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483864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KB-JWT vorhanden, typ=kb+jwt, Nonce im KB-JWT stimmt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050792"/>
            <a:ext cx="11612880" cy="61264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11480" y="4142232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05656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Wallet Integrity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142232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Wallet Attestation gegen Wallet-Provider Trust List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4320" y="4709160"/>
            <a:ext cx="11612880" cy="612648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411480" y="4800600"/>
            <a:ext cx="420624" cy="420624"/>
          </a:xfrm>
          <a:prstGeom prst="ellipse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764024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Selective Disclosure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800600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Mindestens eine Disclosure vorhanden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5367528"/>
            <a:ext cx="11612880" cy="612648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411480" y="5458968"/>
            <a:ext cx="420624" cy="420624"/>
          </a:xfrm>
          <a:prstGeom prst="ellipse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422392"/>
            <a:ext cx="3108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Business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458968"/>
            <a:ext cx="7498079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given_name, family_name, birthdate nicht leer, Datumsformat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Layer 1 &amp; 2: Transport und Session Binding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F"/>
                </a:solidFill>
                <a:latin typeface="Calibri"/>
              </a:rPr>
              <a:t>Entschlüsselung + Replay-Schutz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17320"/>
            <a:ext cx="5577840" cy="51206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47AB"/>
                </a:solidFill>
                <a:latin typeface="Calibri"/>
              </a:rPr>
              <a:t>Layer 1 – Transport &amp; Struktur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>
                <a:solidFill>
                  <a:srgbClr val="1F2937"/>
                </a:solidFill>
                <a:latin typeface="Calibri"/>
              </a:rPr>
              <a:t>›  Wallet schickt Antwort als JWE (verschlüsselt) via direct_post.jwt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F2937"/>
                </a:solidFill>
                <a:latin typeface="Calibri"/>
              </a:rPr>
              <a:t>›  Service entschlüsselt JWE mit dem ephemeren Private Key
→ nur dieser Service kann entschlüsseln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F2937"/>
                </a:solidFill>
                <a:latin typeface="Calibri"/>
              </a:rPr>
              <a:t>›  Das Ergebnis kann verschiedene Formate haben:
  › JARM JWT (signiertes Auth Response JWT)
  › JSON mit vp_token-Feld
  › DCQL-Objekt { 'pid-sd-jwt': ['eyJ...~...'] }
  › Direktes SD-JWT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F2937"/>
                </a:solidFill>
                <a:latin typeface="Calibri"/>
              </a:rPr>
              <a:t>›  Alle Formate werden erkannt und auf SD-JWT normalisiert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F2937"/>
                </a:solidFill>
                <a:latin typeface="Calibri"/>
              </a:rPr>
              <a:t>›  Größenprüfung: max 2 MB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17320"/>
            <a:ext cx="5760720" cy="51206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47AB"/>
                </a:solidFill>
                <a:latin typeface="Calibri"/>
              </a:rPr>
              <a:t>Layer 2 – Session Binding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>
                <a:solidFill>
                  <a:srgbClr val="1F2937"/>
                </a:solidFill>
                <a:latin typeface="Calibri"/>
              </a:rPr>
              <a:t>›  Nonce: muss exakt mit session.nonce übereinstimmen
→ verhindert Replay-Angriffe (jede Nonce ist einmalig)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F2937"/>
                </a:solidFill>
                <a:latin typeface="Calibri"/>
              </a:rPr>
              <a:t>›  Audience (aud): muss unsere client_id sein
→ Antwort für diesen Service, nicht für jemand anderen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F2937"/>
                </a:solidFill>
                <a:latin typeface="Calibri"/>
              </a:rPr>
              <a:t>›  iat (Issued At): darf nicht in der Zukunft liegen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F2937"/>
                </a:solidFill>
                <a:latin typeface="Calibri"/>
              </a:rPr>
              <a:t>›  exp (Expiry): darf nicht abgelaufen sein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F2937"/>
                </a:solidFill>
                <a:latin typeface="Calibri"/>
              </a:rPr>
              <a:t>›  Bei Mismatch: sofort abgebrochen mit
'Nonce mismatch – possible replay attack'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Layer 3 &amp; 4: Credential und Holder Binding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F"/>
                </a:solidFill>
                <a:latin typeface="Calibri"/>
              </a:rPr>
              <a:t>Ist das PID echt? Ist der Nutzer wirklich der Inhaber?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17320"/>
            <a:ext cx="5577840" cy="51206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5212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6534"/>
                </a:solidFill>
                <a:latin typeface="Calibri"/>
              </a:rPr>
              <a:t>Layer 3 – Credential Assurance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521208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>
                <a:solidFill>
                  <a:srgbClr val="1F2937"/>
                </a:solidFill>
                <a:latin typeface="Calibri"/>
              </a:rPr>
              <a:t>›  Ablaufdatum: exp-Claim des PID-Credentials geprüft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F2937"/>
                </a:solidFill>
                <a:latin typeface="Calibri"/>
              </a:rPr>
              <a:t>›  Zertifikat: x5c-Header im Issuer-JWT vorhanden?
→ Zertifikatskette der Bundesdruckerei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F2937"/>
                </a:solidFill>
                <a:latin typeface="Calibri"/>
              </a:rPr>
              <a:t>›  Trust List: Ist der Issuer in der PID-Provider-Liste?
→ Geladen von bmi.usercontent.opencode.de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F2937"/>
                </a:solidFill>
                <a:latin typeface="Calibri"/>
              </a:rPr>
              <a:t>›  Zweck: Niemand kann ein selbst erstelltes Fake-PID einreichen
→ Nur offizielle Aussteller werden akzeptiert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F2937"/>
                </a:solidFill>
                <a:latin typeface="Calibri"/>
              </a:rPr>
              <a:t>›  Im POC/Sandbox: leere Trust List = Warnung, kein Fehler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417320"/>
            <a:ext cx="5760720" cy="5120640"/>
          </a:xfrm>
          <a:prstGeom prst="roundRect">
            <a:avLst/>
          </a:prstGeom>
          <a:solidFill>
            <a:srgbClr val="D1FAE5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09360" y="1554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66534"/>
                </a:solidFill>
                <a:latin typeface="Calibri"/>
              </a:rPr>
              <a:t>Layer 4 – Holder Binding (KB-JWT)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103120"/>
            <a:ext cx="53949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>
                <a:solidFill>
                  <a:srgbClr val="1F2937"/>
                </a:solidFill>
                <a:latin typeface="Calibri"/>
              </a:rPr>
              <a:t>›  SD-JWT Format: issuer-jwt ~ disclosure1 ~ ... ~ kb-jwt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F2937"/>
                </a:solidFill>
                <a:latin typeface="Calibri"/>
              </a:rPr>
              <a:t>›  KB-JWT = Key Binding JWT (letzter Teil)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F2937"/>
                </a:solidFill>
                <a:latin typeface="Calibri"/>
              </a:rPr>
              <a:t>›  Beweist: der Wallet-Inhaber hat den privaten Schlüssel
der im PID als 'Holder Key' eingetragen ist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F2937"/>
                </a:solidFill>
                <a:latin typeface="Calibri"/>
              </a:rPr>
              <a:t>›  Prüfungen:
  › KB-JWT muss vorhanden und nicht leer sein
  › typ-Header muss 'kb+jwt' sein
  › Nonce im KB-JWT muss mit session.nonce stimmen</a:t>
            </a:r>
          </a:p>
          <a:p>
            <a:pPr>
              <a:spcBef>
                <a:spcPts val="800"/>
              </a:spcBef>
            </a:pPr>
            <a:r>
              <a:rPr sz="1300">
                <a:solidFill>
                  <a:srgbClr val="1F2937"/>
                </a:solidFill>
                <a:latin typeface="Calibri"/>
              </a:rPr>
              <a:t>›  Verhindert: Weitergabe eines gültigen Credentials
an jemand anderen (Credential Sharing Attack)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Layer 5, 6 &amp; 7: Wallet, Disclosure, Business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F"/>
                </a:solidFill>
                <a:latin typeface="Calibri"/>
              </a:rPr>
              <a:t>Vertrauenswürdige Wallet + vollständige Daten + nutzbare Inhalte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17320"/>
            <a:ext cx="3657600" cy="5120640"/>
          </a:xfrm>
          <a:prstGeom prst="roundRect">
            <a:avLst/>
          </a:prstGeom>
          <a:solidFill>
            <a:srgbClr val="FFEDD5"/>
          </a:solidFill>
          <a:ln w="1270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15544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A580C"/>
                </a:solidFill>
                <a:latin typeface="Calibri"/>
              </a:rPr>
              <a:t>Layer 5 – Wallet Integrity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1488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Wallet Attestation: im VP Token als wallet_attestation oder wal</a:t>
            </a:r>
          </a:p>
          <a:p>
            <a:pPr>
              <a:spcBef>
                <a:spcPts val="9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Falls vorhanden: Signatur gegen Wallet-Provider Trust List prüfen
(SPRIND Wallet muss in der Liste stehen)</a:t>
            </a:r>
          </a:p>
          <a:p>
            <a:pPr>
              <a:spcBef>
                <a:spcPts val="9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Verhindert: kompromittierte oder gefälschte Wallet-Apps</a:t>
            </a:r>
          </a:p>
          <a:p>
            <a:pPr>
              <a:spcBef>
                <a:spcPts val="9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Im POC: kein Attestation-Claim = Warnung, kein Fehler
(Sandbox-Toleranz)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142232" y="1417320"/>
            <a:ext cx="3657600" cy="5120640"/>
          </a:xfrm>
          <a:prstGeom prst="roundRect">
            <a:avLst/>
          </a:prstGeom>
          <a:solidFill>
            <a:srgbClr val="E0F7FA"/>
          </a:solidFill>
          <a:ln w="12700">
            <a:solidFill>
              <a:srgbClr val="0E749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79392" y="15544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7490"/>
                </a:solidFill>
                <a:latin typeface="Calibri"/>
              </a:rPr>
              <a:t>Layer 6 – Selective Disclosure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79392" y="21488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SD-JWT aufteilen: split('~').filter(Boolean)</a:t>
            </a:r>
          </a:p>
          <a:p>
            <a:pPr>
              <a:spcBef>
                <a:spcPts val="9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Issuer-JWT = erster Teil</a:t>
            </a:r>
          </a:p>
          <a:p>
            <a:pPr>
              <a:spcBef>
                <a:spcPts val="9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KB-JWT = letzter Teil</a:t>
            </a:r>
          </a:p>
          <a:p>
            <a:pPr>
              <a:spcBef>
                <a:spcPts val="9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Disclosures = alles dazwischen</a:t>
            </a:r>
          </a:p>
          <a:p>
            <a:pPr>
              <a:spcBef>
                <a:spcPts val="9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Mindestens eine Disclosure muss vorhanden sein
→ sonst wurden keine Felder freigegeben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010144" y="1417320"/>
            <a:ext cx="3657600" cy="5120640"/>
          </a:xfrm>
          <a:prstGeom prst="roundRect">
            <a:avLst/>
          </a:prstGeom>
          <a:solidFill>
            <a:srgbClr val="EDE9FE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47304" y="1554480"/>
            <a:ext cx="3474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7C3AED"/>
                </a:solidFill>
                <a:latin typeface="Calibri"/>
              </a:rPr>
              <a:t>Layer 7 – Business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47304" y="2148840"/>
            <a:ext cx="3474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given_name: nicht leer nach trim()</a:t>
            </a:r>
          </a:p>
          <a:p>
            <a:pPr>
              <a:spcBef>
                <a:spcPts val="9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family_name: nicht leer nach trim()</a:t>
            </a:r>
          </a:p>
          <a:p>
            <a:pPr>
              <a:spcBef>
                <a:spcPts val="9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birthdate: nicht leer nach trim()</a:t>
            </a:r>
          </a:p>
          <a:p>
            <a:pPr>
              <a:spcBef>
                <a:spcPts val="9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birthdate Format: muss YYYY-MM-DD sein
(RegEx: /^\d{4}-\d{2}-\d{2}$/)</a:t>
            </a:r>
          </a:p>
          <a:p>
            <a:pPr>
              <a:spcBef>
                <a:spcPts val="900"/>
              </a:spcBef>
            </a:pPr>
            <a:r>
              <a:rPr sz="1250">
                <a:solidFill>
                  <a:srgbClr val="1F2937"/>
                </a:solidFill>
                <a:latin typeface="Calibri"/>
              </a:rPr>
              <a:t>›  Letzte Prüfung: Daten wirklich verwendbar?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Ergebnis: PID-Daten im Formular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BFDBFF"/>
                </a:solidFill>
                <a:latin typeface="Calibri"/>
              </a:rPr>
              <a:t>Was kommt aus dem Wallet – und wo landet es?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1417320"/>
            <a:ext cx="5029200" cy="5120640"/>
          </a:xfrm>
          <a:prstGeom prst="roundRect">
            <a:avLst/>
          </a:prstGeom>
          <a:solidFill>
            <a:srgbClr val="E8F2FF"/>
          </a:solidFill>
          <a:ln w="1270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5448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0047AB"/>
                </a:solidFill>
                <a:latin typeface="Calibri"/>
              </a:rPr>
              <a:t>📤  Aus dem Wallet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0116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6B7280"/>
                </a:solidFill>
                <a:latin typeface="Calibri"/>
              </a:rPr>
              <a:t>PID (Person Identification Data) – kryptografisch signiert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468880"/>
            <a:ext cx="46634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given_name          →  'Max'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family_name         →  'Mustermann'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birthdate           →  '1990-03-15'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address.street_address  →  'Hauptstr. 1'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address.postal_code     →  '80331'</a:t>
            </a:r>
          </a:p>
          <a:p>
            <a:pPr>
              <a:spcBef>
                <a:spcPts val="1400"/>
              </a:spcBef>
            </a:pPr>
            <a:r>
              <a:rPr sz="1400">
                <a:solidFill>
                  <a:srgbClr val="1F2937"/>
                </a:solidFill>
                <a:latin typeface="Calibri"/>
              </a:rPr>
              <a:t>address.locality        →  'München'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347472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1A6ED8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417320"/>
            <a:ext cx="5760720" cy="5120640"/>
          </a:xfrm>
          <a:prstGeom prst="roundRect">
            <a:avLst/>
          </a:prstGeom>
          <a:solidFill>
            <a:srgbClr val="F3F4F6"/>
          </a:solidFill>
          <a:ln w="12700">
            <a:solidFill>
              <a:srgbClr val="6B72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554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1F2937"/>
                </a:solidFill>
                <a:latin typeface="Calibri"/>
              </a:rPr>
              <a:t>📋  Formular-Felder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2103120"/>
            <a:ext cx="822960" cy="365760"/>
          </a:xfrm>
          <a:prstGeom prst="rect">
            <a:avLst/>
          </a:prstGeom>
          <a:solidFill>
            <a:srgbClr val="0047AB"/>
          </a:solidFill>
          <a:ln w="635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Schritt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69480" y="210312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Vorname  (firstname)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04120" y="2103120"/>
            <a:ext cx="1600200" cy="365760"/>
          </a:xfrm>
          <a:prstGeom prst="rect">
            <a:avLst/>
          </a:prstGeom>
          <a:solidFill>
            <a:srgbClr val="D1FAE5"/>
          </a:solidFill>
          <a:ln w="635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66534"/>
                </a:solidFill>
                <a:latin typeface="Calibri"/>
              </a:rPr>
              <a:t>✓ Aus Wallet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2798064"/>
            <a:ext cx="822960" cy="365760"/>
          </a:xfrm>
          <a:prstGeom prst="rect">
            <a:avLst/>
          </a:prstGeom>
          <a:solidFill>
            <a:srgbClr val="0047AB"/>
          </a:solidFill>
          <a:ln w="635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Schritt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69480" y="2798064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Nachname  (lastname)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104120" y="2798064"/>
            <a:ext cx="1600200" cy="365760"/>
          </a:xfrm>
          <a:prstGeom prst="rect">
            <a:avLst/>
          </a:prstGeom>
          <a:solidFill>
            <a:srgbClr val="D1FAE5"/>
          </a:solidFill>
          <a:ln w="635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66534"/>
                </a:solidFill>
                <a:latin typeface="Calibri"/>
              </a:rPr>
              <a:t>✓ Aus Wallet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09360" y="3493008"/>
            <a:ext cx="822960" cy="365760"/>
          </a:xfrm>
          <a:prstGeom prst="rect">
            <a:avLst/>
          </a:prstGeom>
          <a:solidFill>
            <a:srgbClr val="0047AB"/>
          </a:solidFill>
          <a:ln w="635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Schritt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269480" y="3493008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Straße  (street)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04120" y="3493008"/>
            <a:ext cx="1600200" cy="365760"/>
          </a:xfrm>
          <a:prstGeom prst="rect">
            <a:avLst/>
          </a:prstGeom>
          <a:solidFill>
            <a:srgbClr val="D1FAE5"/>
          </a:solidFill>
          <a:ln w="635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66534"/>
                </a:solidFill>
                <a:latin typeface="Calibri"/>
              </a:rPr>
              <a:t>✓ Aus Wallet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09360" y="4187952"/>
            <a:ext cx="822960" cy="365760"/>
          </a:xfrm>
          <a:prstGeom prst="rect">
            <a:avLst/>
          </a:prstGeom>
          <a:solidFill>
            <a:srgbClr val="0047AB"/>
          </a:solidFill>
          <a:ln w="635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Schritt 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269480" y="4187952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PLZ  (zipCode)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0104120" y="4187952"/>
            <a:ext cx="1600200" cy="365760"/>
          </a:xfrm>
          <a:prstGeom prst="rect">
            <a:avLst/>
          </a:prstGeom>
          <a:solidFill>
            <a:srgbClr val="D1FAE5"/>
          </a:solidFill>
          <a:ln w="635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66534"/>
                </a:solidFill>
                <a:latin typeface="Calibri"/>
              </a:rPr>
              <a:t>✓ Aus Wallet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09360" y="4882896"/>
            <a:ext cx="822960" cy="365760"/>
          </a:xfrm>
          <a:prstGeom prst="rect">
            <a:avLst/>
          </a:prstGeom>
          <a:solidFill>
            <a:srgbClr val="0047AB"/>
          </a:solidFill>
          <a:ln w="635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Schritt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882896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Stadt  (city)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04120" y="4882896"/>
            <a:ext cx="1600200" cy="365760"/>
          </a:xfrm>
          <a:prstGeom prst="rect">
            <a:avLst/>
          </a:prstGeom>
          <a:solidFill>
            <a:srgbClr val="D1FAE5"/>
          </a:solidFill>
          <a:ln w="635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66534"/>
                </a:solidFill>
                <a:latin typeface="Calibri"/>
              </a:rPr>
              <a:t>✓ Aus Wallet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09360" y="5577840"/>
            <a:ext cx="822960" cy="365760"/>
          </a:xfrm>
          <a:prstGeom prst="rect">
            <a:avLst/>
          </a:prstGeom>
          <a:solidFill>
            <a:srgbClr val="0047AB"/>
          </a:solidFill>
          <a:ln w="635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Schritt 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69480" y="5577840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F2937"/>
                </a:solidFill>
                <a:latin typeface="Calibri"/>
              </a:rPr>
              <a:t>Geburtsdatum  (dateOfBirth)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104120" y="5577840"/>
            <a:ext cx="1600200" cy="365760"/>
          </a:xfrm>
          <a:prstGeom prst="rect">
            <a:avLst/>
          </a:prstGeom>
          <a:solidFill>
            <a:srgbClr val="D1FAE5"/>
          </a:solidFill>
          <a:ln w="6350">
            <a:solidFill>
              <a:srgbClr val="1A6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166534"/>
                </a:solidFill>
                <a:latin typeface="Calibri"/>
              </a:rPr>
              <a:t>✓ Aus Wallet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FFFF"/>
                </a:solidFill>
                <a:latin typeface="Calibri"/>
              </a:rPr>
              <a:t>Key Takeaways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2743200" cy="3931920"/>
          </a:xfrm>
          <a:prstGeom prst="round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14173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F2937"/>
                </a:solidFill>
                <a:latin typeface="Calibri"/>
              </a:rPr>
              <a:t>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4884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Kryptografisch sicher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74320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FDBFF"/>
                </a:solidFill>
                <a:latin typeface="Calibri"/>
              </a:rPr>
              <a:t>Jede Antwort der Wallet ist verschlüsselt (JWE), signiert (KB-JWT) und an eine einmalige Nonce gebunden. Replay-Angriffe sind ausgeschlossen.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82112" y="1280160"/>
            <a:ext cx="2743200" cy="3931920"/>
          </a:xfrm>
          <a:prstGeom prst="round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87952" y="14173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F2937"/>
                </a:solidFill>
                <a:latin typeface="Calibri"/>
              </a:rPr>
              <a:t>🏛️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9272" y="214884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Staatlich verifiziert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19272" y="274320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FDBFF"/>
                </a:solidFill>
                <a:latin typeface="Calibri"/>
              </a:rPr>
              <a:t>Die PID-Daten kommen von der Bundesdruckerei – kryptografisch signiert. Der Vermieter bekommt Daten, die er vertrauen kann.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9904" y="1280160"/>
            <a:ext cx="2743200" cy="3931920"/>
          </a:xfrm>
          <a:prstGeom prst="round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95744" y="14173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F2937"/>
                </a:solidFill>
                <a:latin typeface="Calibri"/>
              </a:rPr>
              <a:t>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27064" y="214884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Ein Klick für den Nutzer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27064" y="274320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FDBFF"/>
                </a:solidFill>
                <a:latin typeface="Calibri"/>
              </a:rPr>
              <a:t>Kein Abtippen, kein Copy-Paste. QR-Code scannen oder Deep Link öffnen – fertig. Das Formular füllt sich automatisch.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997696" y="1280160"/>
            <a:ext cx="2743200" cy="3931920"/>
          </a:xfrm>
          <a:prstGeom prst="roundRect">
            <a:avLst/>
          </a:prstGeom>
          <a:solidFill>
            <a:srgbClr val="0D2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03536" y="1417320"/>
            <a:ext cx="731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0" i="0">
                <a:solidFill>
                  <a:srgbClr val="1F2937"/>
                </a:solidFill>
                <a:latin typeface="Calibri"/>
              </a:rPr>
              <a:t>🏗️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34856" y="2148840"/>
            <a:ext cx="2514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Calibri"/>
              </a:rPr>
              <a:t>Produktionsreif konzipiert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34856" y="2743200"/>
            <a:ext cx="2514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FDBFF"/>
                </a:solidFill>
                <a:latin typeface="Calibri"/>
              </a:rPr>
              <a:t>7-Layer Validierung, Trust List Integration, Session Management, CORS, ephemere Schlüssel – alle Security-Bausteine sind vorhanden.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3504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09AE8"/>
                </a:solidFill>
                <a:latin typeface="Calibri"/>
              </a:rPr>
              <a:t>Immomio POC · EUDI Wallet Integration · März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725912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POC 2: Credential-Ausstellung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725912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FDBFF"/>
                </a:solidFill>
                <a:latin typeface="Calibri"/>
              </a:rPr>
              <a:t>Neue Credentials in die Wallet schreiben –
Wohnungsgeberbestätigung &amp; Genossenschafts-Mitgliedsbescheinigung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520440"/>
            <a:ext cx="10725912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93C5FD"/>
                </a:solidFill>
                <a:latin typeface="Calibri"/>
              </a:rPr>
              <a:t>OpenID4VCI (Verifiable Credential Issuance)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669280"/>
            <a:ext cx="10725912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3C5FD"/>
                </a:solidFill>
                <a:latin typeface="Calibri"/>
              </a:rPr>
              <a:t>Immomio POC  ·  März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455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POC 1 → POC 2: Lesen vs. Schreiben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7455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BFDBFF"/>
                </a:solidFill>
                <a:latin typeface="Calibri"/>
              </a:rPr>
              <a:t>POC 1 liest aus dem Wallet – POC 2 schreibt hinein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5303520" cy="4572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00352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47AB"/>
                </a:solidFill>
                <a:latin typeface="Calibri"/>
              </a:rPr>
              <a:t>📖  POC 1: PID lesen (OpenID4VP)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500352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›  Wallet → Service: PID-Daten präsentieren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›  Service validiert über 7 Schichten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›  Frontend befüllt Formular automatisch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Protokoll: OpenID4VP (Verifiable Presentation)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Credential: PID der Bundesdruckerei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Richtung: Wallet → Service → Frontend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✅  Produktionsreif implementiert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463040"/>
            <a:ext cx="5760720" cy="45720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5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66534"/>
                </a:solidFill>
                <a:latin typeface="Calibri"/>
              </a:rPr>
              <a:t>✍️  POC 2: Credentials ausstellen (OpenID4VCI)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03120"/>
            <a:ext cx="5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›  Service → Wallet: Neues Credential schreiben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›  Zuerst PID-Verifikation (Identitätsnachweis)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›  Dann Credential-Ausstellung in die Wallet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Protokoll: OpenID4VCI (Credential Issuance)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Credentials: Eigene SD-JWT-VCs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Richtung: Frontend → Service → Wallet</a:t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500">
                <a:solidFill>
                  <a:srgbClr val="1F2937"/>
                </a:solidFill>
                <a:latin typeface="Calibri"/>
              </a:rPr>
              <a:t>🚧  Implementiert, wartet auf Wallet-Update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3200000"/>
            <a:ext cx="5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47AB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455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Zwei Credential-Typen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7455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BFDBFF"/>
                </a:solidFill>
                <a:latin typeface="Calibri"/>
              </a:rPr>
              <a:t>Wohnungsgeberbestätigung und Genossenschafts-Mitgliedsbescheinigung als SD-JWT-VC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5303520" cy="5000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00352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47AB"/>
                </a:solidFill>
                <a:latin typeface="Calibri"/>
              </a:rPr>
              <a:t>🏠  Wohnungsgeberbestätigung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11680"/>
            <a:ext cx="500352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urn:credential:wohnungsgeberbestaetigung:1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377440"/>
            <a:ext cx="500352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Aus PID (verifiziert):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  given_name, family_name, birthdate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Zusatzdaten (Mock):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  street_address     →  "Musterstraße 42"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  postal_code          →  "10115"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  locality                 →  "Berlin"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  move_in_date       →  "2026-04-01"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  landlord_name      →  "Immobilien GmbH"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463040"/>
            <a:ext cx="5760720" cy="500000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17920" y="1600200"/>
            <a:ext cx="5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92400E"/>
                </a:solidFill>
                <a:latin typeface="Calibri"/>
              </a:rPr>
              <a:t>🤝  Genossenschafts-Mitgliedsbescheinigung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2011680"/>
            <a:ext cx="5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urn:credential:genossenschaft-mitglied:1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2377440"/>
            <a:ext cx="5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Aus PID (verifiziert):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  given_name, family_name, birthdate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Zusatzdaten (Mock):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  cooperative_name         →  "Berliner Wohnungsbau-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                                           genossenschaft eG"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  membership_number   →  "BWG-2026-04217"</a:t>
            </a:r>
          </a:p>
          <a:p>
            <a:pPr>
              <a:spcAft>
                <a:spcPts val="400"/>
              </a:spcAft>
            </a:pPr>
            <a:r>
              <a:rPr sz="1400">
                <a:solidFill>
                  <a:srgbClr val="1F2937"/>
                </a:solidFill>
                <a:latin typeface="Calibri"/>
              </a:rPr>
              <a:t>  member_since               →  "2026-03-15"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583680"/>
            <a:ext cx="11457432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6B7280"/>
                </a:solidFill>
                <a:latin typeface="Calibri"/>
              </a:rPr>
              <a:t>Alle Felder sind selectively disclosable – die Wallet entscheidet, welche Felder sie bei Präsentation preisgibt.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455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Ablauf: Credential-Ausstellung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7455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BFDBFF"/>
                </a:solidFill>
                <a:latin typeface="Calibri"/>
              </a:rPr>
              <a:t>PID verifizieren → Credential erstellen → In die Wallet schreiben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2560320" cy="457200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463040" y="1600200"/>
            <a:ext cx="365760" cy="365760"/>
          </a:xfrm>
          <a:prstGeom prst="ellipse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2286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47AB"/>
                </a:solidFill>
                <a:latin typeface="Calibri"/>
              </a:rPr>
              <a:t>📱  PID-Verifikation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560320"/>
            <a:ext cx="2286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›  Nutzer klickt "Credential ausstellen"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›  Wallet öffnet sich (QR / Deep Link)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›  PID-Daten werden verifiziert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›  7-Schichten-Validierung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Bestehender OpenID4VP-Flow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aus POC 1 wird wiederverwendet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53512" y="3200000"/>
            <a:ext cx="13716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47AB"/>
                </a:solidFill>
                <a:latin typeface="Calibri"/>
              </a:rP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108960" y="1463040"/>
            <a:ext cx="2560320" cy="457200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06240" y="1600200"/>
            <a:ext cx="365760" cy="365760"/>
          </a:xfrm>
          <a:prstGeom prst="ellipse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46120" y="2103120"/>
            <a:ext cx="2286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47AB"/>
                </a:solidFill>
                <a:latin typeface="Calibri"/>
              </a:rPr>
              <a:t>📋  Vorschau &amp; Bestätigung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46120" y="2560320"/>
            <a:ext cx="2286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›  Verifizierte PID-Daten werden angezeigt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›  Mock-Daten werden ergänzt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›  Nutzer sieht vollständiges Credential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›  Klick auf "Ausstellen"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Frontend erstellt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Credential Offer via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696712" y="3200000"/>
            <a:ext cx="13716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47AB"/>
                </a:solidFill>
                <a:latin typeface="Calibri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852160" y="1463040"/>
            <a:ext cx="2560320" cy="457200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949440" y="1600200"/>
            <a:ext cx="365760" cy="365760"/>
          </a:xfrm>
          <a:prstGeom prst="ellipse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89320" y="2103120"/>
            <a:ext cx="2286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47AB"/>
                </a:solidFill>
                <a:latin typeface="Calibri"/>
              </a:rPr>
              <a:t>📲  Wallet-Ausstellung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989320" y="2560320"/>
            <a:ext cx="2286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›  QR-Code / Deep Link erscheint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›  openid-credential-offer:// Protokoll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›  Wallet holt Metadata + Token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›  Proof-of-Possession JWT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Service erstellt SD-JWT-VC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und sendet an Wallet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39912" y="3200000"/>
            <a:ext cx="13716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0047AB"/>
                </a:solidFill>
                <a:latin typeface="Calibri"/>
              </a:rP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595360" y="1463040"/>
            <a:ext cx="2560320" cy="457200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9692640" y="1600200"/>
            <a:ext cx="365760" cy="365760"/>
          </a:xfrm>
          <a:prstGeom prst="ellipse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732520" y="2103120"/>
            <a:ext cx="2286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47AB"/>
                </a:solidFill>
                <a:latin typeface="Calibri"/>
              </a:rPr>
              <a:t>✅  Fertig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732520" y="2560320"/>
            <a:ext cx="2286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›  Credential ist in der Wallet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›  Nutzer kann es bei Bedarf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    präsentieren (selektiv)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›  Frontend zeigt Erfolg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Credential bleibt dauerhaft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1F2937"/>
                </a:solidFill>
                <a:latin typeface="Calibri"/>
              </a:rPr>
              <a:t>in der Wallet des Nutzers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455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OpenID4VCI: Pre-Authorized Code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7455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BFDBFF"/>
                </a:solidFill>
                <a:latin typeface="Calibri"/>
              </a:rPr>
              <a:t>Das technische Protokoll zwischen Service, Frontend und Wallet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11457432" cy="58521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02920" y="1572768"/>
            <a:ext cx="365760" cy="365760"/>
          </a:xfrm>
          <a:prstGeom prst="ellipse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1536192"/>
            <a:ext cx="3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7AB"/>
                </a:solidFill>
                <a:latin typeface="Calibri"/>
              </a:rPr>
              <a:t>POST /issuer/initiate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97680" y="1536192"/>
            <a:ext cx="7525512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alibri"/>
              </a:rPr>
              <a:t>Frontend startet Session → VP-Session (PID) + Issuance-Session erstellt → walletUrl zurück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121408"/>
            <a:ext cx="11457432" cy="585216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02920" y="2231136"/>
            <a:ext cx="365760" cy="365760"/>
          </a:xfrm>
          <a:prstGeom prst="ellipse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194560"/>
            <a:ext cx="3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7AB"/>
                </a:solidFill>
                <a:latin typeface="Calibri"/>
              </a:rPr>
              <a:t>OpenID4VP-Flow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97680" y="2194560"/>
            <a:ext cx="7525512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alibri"/>
              </a:rPr>
              <a:t>Wallet verifiziert PID → Callback auto-linked PID-Claims zur Issuance-Session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" y="2779776"/>
            <a:ext cx="11457432" cy="58521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02920" y="2889504"/>
            <a:ext cx="365760" cy="365760"/>
          </a:xfrm>
          <a:prstGeom prst="ellipse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5840" y="2852928"/>
            <a:ext cx="3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7AB"/>
                </a:solidFill>
                <a:latin typeface="Calibri"/>
              </a:rPr>
              <a:t>POST /issuer/create-offer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2852928"/>
            <a:ext cx="7525512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alibri"/>
              </a:rPr>
              <a:t>Frontend erstellt Credential Offer → openid-credential-offer:// URI für QR / Deep Link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" y="3438144"/>
            <a:ext cx="11457432" cy="585216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02920" y="3547872"/>
            <a:ext cx="365760" cy="365760"/>
          </a:xfrm>
          <a:prstGeom prst="ellipse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3511296"/>
            <a:ext cx="3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7AB"/>
                </a:solidFill>
                <a:latin typeface="Calibri"/>
              </a:rPr>
              <a:t>GET /issuer/offer/:id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97680" y="3511296"/>
            <a:ext cx="7525512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alibri"/>
              </a:rPr>
              <a:t>Wallet ruft Offer ab → credential_issuer, credential_configuration_ids, pre-authorized_code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" y="4096512"/>
            <a:ext cx="11457432" cy="58521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02920" y="4206240"/>
            <a:ext cx="365760" cy="365760"/>
          </a:xfrm>
          <a:prstGeom prst="ellipse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5840" y="4169664"/>
            <a:ext cx="3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7AB"/>
                </a:solidFill>
                <a:latin typeface="Calibri"/>
              </a:rPr>
              <a:t>POST /issuer/token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297680" y="4169664"/>
            <a:ext cx="7525512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alibri"/>
              </a:rPr>
              <a:t>Wallet tauscht Pre-Authorized Code → access_token + c_nonce (5 Min TTL)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" y="4754880"/>
            <a:ext cx="11457432" cy="585216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" y="4864608"/>
            <a:ext cx="365760" cy="365760"/>
          </a:xfrm>
          <a:prstGeom prst="ellipse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4828032"/>
            <a:ext cx="3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7AB"/>
                </a:solidFill>
                <a:latin typeface="Calibri"/>
              </a:rPr>
              <a:t>POST /issuer/credential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297680" y="4828032"/>
            <a:ext cx="7525512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alibri"/>
              </a:rPr>
              <a:t>Wallet sendet Proof-of-Possession JWT → Service erstellt SD-JWT-VC → Credential zurück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5413248"/>
            <a:ext cx="11457432" cy="585216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502920" y="5522976"/>
            <a:ext cx="365760" cy="365760"/>
          </a:xfrm>
          <a:prstGeom prst="ellipse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" y="5486400"/>
            <a:ext cx="3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0047AB"/>
                </a:solidFill>
                <a:latin typeface="Calibri"/>
              </a:rPr>
              <a:t>Well-Known Metadata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297680" y="5486400"/>
            <a:ext cx="7525512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F2937"/>
                </a:solidFill>
                <a:latin typeface="Calibri"/>
              </a:rPr>
              <a:t>/.well-known/openid-credential-issuer + /.well-known/oauth-authorization-server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"/>
            <a:ext cx="1127455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SD-JWT-VC Credential Builder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713232"/>
            <a:ext cx="11274552" cy="4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0">
                <a:solidFill>
                  <a:srgbClr val="BFDBFF"/>
                </a:solidFill>
                <a:latin typeface="Calibri"/>
              </a:rPr>
              <a:t>Wie der Service ein Credential erstellt und signiert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463040"/>
            <a:ext cx="5303520" cy="49377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600200"/>
            <a:ext cx="500352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0047AB"/>
                </a:solidFill>
                <a:latin typeface="Calibri"/>
              </a:rPr>
              <a:t>⚙️  Erstellungsprozess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103120"/>
            <a:ext cx="500352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1.  PID-Claims aus Verifikation übernehmen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     given_name, family_name, birthdate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2.  Mock-Daten ergänzen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     (Adresse, Einzugsdatum, etc.)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3.  Holder Binding setzen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     cnf.jwk = Public Key der Wallet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     (aus Proof-of-Possession JWT)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4.  SD-JWT-VC erstellen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     @sd-jwt/core SDJwtInstance.issue()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     Alle Felder → _sd (selectively disclosable)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5.  Signieren mit Access Certificate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     ES256 (P-256 ECDSA), x5c Header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035040" y="1463040"/>
            <a:ext cx="5760720" cy="49377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0" y="1600200"/>
            <a:ext cx="5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66534"/>
                </a:solidFill>
                <a:latin typeface="Calibri"/>
              </a:rPr>
              <a:t>🔐  Sicherheitseigenschaften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0" y="2103120"/>
            <a:ext cx="520000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Signatur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  ES256 mit Access Certificate Private Key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  x5c-Header mit vollständiger Zertifikatskette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Holder Binding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  cnf.jwk bindet Credential an Wallet-Schlüssel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  Verhindert Credential-Weitergabe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Selective Disclosure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  Jedes Feld einzeln offenlegbar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  Wallet entscheidet bei Präsentation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Pre-Authorized Code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  32 Bytes kryptographisch zufällig, einmalig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Access Token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  Session-gebunden, 10 Min Gültigkeit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/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Proof-of-Possession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  Wallet beweist Key-Besitz via JWT + c_nonce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47A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303520"/>
            <a:ext cx="12188952" cy="54864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5912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Calibri"/>
              </a:rPr>
              <a:t>Zusammenfassung: Zwei POCs, ein System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2651760" cy="4023360"/>
          </a:xfrm>
          <a:prstGeom prst="roundRect">
            <a:avLst/>
          </a:prstGeom>
          <a:solidFill>
            <a:srgbClr val="F3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" y="1417320"/>
            <a:ext cx="237744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>
                <a:solidFill>
                  <a:srgbClr val="1F2937"/>
                </a:solidFill>
                <a:latin typeface="Calibri"/>
              </a:rPr>
              <a:t>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2148840"/>
            <a:ext cx="237744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Calibri"/>
              </a:rPr>
              <a:t>PID lesen (POC 1)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2651760"/>
            <a:ext cx="237744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OpenID4VP – Formular-Befüllung mit verifizierten Personendaten aus dem EUDI Wallet. 7-Schichten-Validierung. Produktionsreif.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108960" y="1280160"/>
            <a:ext cx="2651760" cy="4023360"/>
          </a:xfrm>
          <a:prstGeom prst="roundRect">
            <a:avLst/>
          </a:prstGeom>
          <a:solidFill>
            <a:srgbClr val="D1FA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417320"/>
            <a:ext cx="237744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>
                <a:solidFill>
                  <a:srgbClr val="1F2937"/>
                </a:solidFill>
                <a:latin typeface="Calibri"/>
              </a:rPr>
              <a:t>✍️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148840"/>
            <a:ext cx="237744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Calibri"/>
              </a:rPr>
              <a:t>Credentials schreiben (POC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2651760"/>
            <a:ext cx="237744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OpenID4VCI – Wohnungsgeberbestätigung und Mitgliedsbescheinigung als SD-JWT-VC in die Wallet ausstellen. Bereit für Wallet-Update.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280160"/>
            <a:ext cx="2651760" cy="4023360"/>
          </a:xfrm>
          <a:prstGeom prst="round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80760" y="1417320"/>
            <a:ext cx="237744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>
                <a:solidFill>
                  <a:srgbClr val="1F2937"/>
                </a:solidFill>
                <a:latin typeface="Calibri"/>
              </a:rPr>
              <a:t>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80760" y="2148840"/>
            <a:ext cx="237744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Calibri"/>
              </a:rPr>
              <a:t>Durchgehend sicher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2651760"/>
            <a:ext cx="237744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Ephemere Schlüssel, einmalige Nonces, Access Certificate, Trust Lists, Proof-of-Possession, Holder Binding – Sicherheit auf jeder Ebene.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778240" y="1280160"/>
            <a:ext cx="2651760" cy="4023360"/>
          </a:xfrm>
          <a:prstGeom prst="roundRect">
            <a:avLst/>
          </a:prstGeom>
          <a:solidFill>
            <a:srgbClr val="EDE9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1417320"/>
            <a:ext cx="237744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0">
                <a:solidFill>
                  <a:srgbClr val="1F2937"/>
                </a:solidFill>
                <a:latin typeface="Calibri"/>
              </a:rPr>
              <a:t>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148840"/>
            <a:ext cx="237744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1F2937"/>
                </a:solidFill>
                <a:latin typeface="Calibri"/>
              </a:rPr>
              <a:t>Code-Wiederverwendung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400" y="2651760"/>
            <a:ext cx="2377440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F2937"/>
                </a:solidFill>
                <a:latin typeface="Calibri"/>
              </a:rPr>
              <a:t>POC 2 nutzt die bestehende PID-Verifikation aus POC 1. Gleiche Krypto-Infrastruktur, gleiche Session-Patterns, gleiche Architektur.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6035040"/>
            <a:ext cx="10725912" cy="50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93C5FD"/>
                </a:solidFill>
                <a:latin typeface="Calibri"/>
              </a:rPr>
              <a:t>Immomio POC · EUDI Wallet Integration · März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